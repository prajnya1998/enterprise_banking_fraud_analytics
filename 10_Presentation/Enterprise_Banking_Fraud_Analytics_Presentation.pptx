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Banking Fraud Analytics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875520" y="6473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Project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58368"/>
            <a:ext cx="109728" cy="4846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BANKING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FRAUD ANALYTICS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987552" y="235915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7E6F8"/>
                </a:solidFill>
              </a:rPr>
              <a:t>End-to-end data analytics portfolio project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87552" y="290779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C8EA"/>
                </a:solidFill>
              </a:rPr>
              <a:t>SQL • Python • NumPy • Pandas • Visualization • Power BI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87552" y="3730752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3776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747"/>
                </a:solidFill>
              </a:rPr>
              <a:t>1.30M+ transactions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90672" y="3730752"/>
            <a:ext cx="2057400" cy="310896"/>
          </a:xfrm>
          <a:prstGeom prst="roundRect">
            <a:avLst>
              <a:gd name="adj" fmla="val 17647"/>
            </a:avLst>
          </a:prstGeom>
          <a:solidFill>
            <a:srgbClr val="E2F7F4"/>
          </a:solidFill>
          <a:ln w="12700">
            <a:solidFill>
              <a:srgbClr val="E2F7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0672" y="377647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747"/>
                </a:solidFill>
              </a:rPr>
              <a:t>7.5K fraud transactions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30952" y="3730752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FFF0E3"/>
          </a:solidFill>
          <a:ln w="12700">
            <a:solidFill>
              <a:srgbClr val="FFF0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0952" y="37764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747"/>
                </a:solidFill>
              </a:rPr>
              <a:t>6 Power BI pages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87552" y="49834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C6D8"/>
                </a:solidFill>
              </a:rPr>
              <a:t>Portfolio presentation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87552" y="533095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Enterprise_Banking_Fraud_Analytics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problem and objective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 large transaction dataset into a practical fraud-monitoring solution.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384048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38360" y="4297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747"/>
                </a:solidFill>
              </a:rPr>
              <a:t>01 — CONTEXT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747"/>
                </a:solidFill>
              </a:rPr>
              <a:t>Business challenge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68680" y="224942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148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</a:rPr>
              <a:t>Detect and quantify fraudulent transaction activity.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275234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651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</a:rPr>
              <a:t>Understand where, when and how fraud appears in the dataset.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325526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154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</a:rPr>
              <a:t>Translate transaction-level data into executive KPIs and investigation views.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375818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657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</a:rPr>
              <a:t>Create a reusable analytics workflow from raw data to dashboard.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0760" y="1325880"/>
            <a:ext cx="5559552" cy="4480560"/>
          </a:xfrm>
          <a:prstGeom prst="roundRect">
            <a:avLst>
              <a:gd name="adj" fmla="val 1633"/>
            </a:avLst>
          </a:prstGeom>
          <a:solidFill>
            <a:srgbClr val="EEF5FF"/>
          </a:solidFill>
          <a:ln w="12700">
            <a:solidFill>
              <a:srgbClr val="C9DC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600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747"/>
                </a:solidFill>
              </a:rPr>
              <a:t>Solution delivered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400800" y="224942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2148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</a:rPr>
              <a:t>Validated transaction-level KPIs and fraud metrics.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275234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6248" y="2651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</a:rPr>
              <a:t>SQL analysis for foundational and advanced fraud questions.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325526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56248" y="3154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</a:rPr>
              <a:t>Python / NumPy / Pandas analysis and reporting workflow.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375818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6248" y="3657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</a:rPr>
              <a:t>Visualization layer for exploratory fraud patterns.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426110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6248" y="4160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</a:rPr>
              <a:t>Six-page Power BI reporting layer with DAX measures.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and validated KPI snapshot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uses the cleaned credit-card transaction dataset.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384048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38360" y="4297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747"/>
                </a:solidFill>
              </a:rPr>
              <a:t>02 — DATA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257860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25880"/>
            <a:ext cx="64008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490472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Total Transactions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5528" y="1801368"/>
            <a:ext cx="225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1,296,675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47288" y="1325880"/>
            <a:ext cx="257860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47288" y="1325880"/>
            <a:ext cx="64008" cy="15544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8456" y="1490472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Fraud Transactions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48456" y="1801368"/>
            <a:ext cx="225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7,506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300216" y="1325880"/>
            <a:ext cx="257860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0216" y="1325880"/>
            <a:ext cx="64008" cy="1554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1384" y="1490472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Fraud Rate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01384" y="1801368"/>
            <a:ext cx="225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0.58%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153144" y="1325880"/>
            <a:ext cx="257860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3144" y="1325880"/>
            <a:ext cx="64008" cy="1554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54312" y="1490472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Total Transaction Amount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354312" y="1801368"/>
            <a:ext cx="225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$91.22M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94360" y="3383280"/>
            <a:ext cx="257860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383280"/>
            <a:ext cx="64008" cy="15544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3547872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Total Fraud Amount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5528" y="3858768"/>
            <a:ext cx="225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$3.99M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3447288" y="3383280"/>
            <a:ext cx="257860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47288" y="3383280"/>
            <a:ext cx="64008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48456" y="3547872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Average Transaction Amount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48456" y="3858768"/>
            <a:ext cx="225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$70.35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6300216" y="3383280"/>
            <a:ext cx="257860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0216" y="3383280"/>
            <a:ext cx="64008" cy="1554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1384" y="3547872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Average Fraud Amount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01384" y="3858768"/>
            <a:ext cx="225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$531.32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9153144" y="3383280"/>
            <a:ext cx="257860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53144" y="3383280"/>
            <a:ext cx="64008" cy="15544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54312" y="3547872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Genuine Transactions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354312" y="3858768"/>
            <a:ext cx="225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1,289,169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31520" y="52669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Transaction mix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49808" y="5577840"/>
            <a:ext cx="6903720" cy="292608"/>
          </a:xfrm>
          <a:prstGeom prst="roundRect">
            <a:avLst>
              <a:gd name="adj" fmla="val 12500"/>
            </a:avLst>
          </a:prstGeom>
          <a:solidFill>
            <a:srgbClr val="DDE5E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" y="5577840"/>
            <a:ext cx="39963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09560" y="546811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91C1C"/>
                </a:solidFill>
              </a:rPr>
              <a:t>Fraud 0.58%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144000" y="546811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Genuine 99.42%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analytics workflow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portfolio follows a consistent progression from data preparation to executive reporting.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384048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38360" y="4297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747"/>
                </a:solidFill>
              </a:rPr>
              <a:t>03 — WORKFLOW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10744200" cy="713232"/>
          </a:xfrm>
          <a:prstGeom prst="roundRect">
            <a:avLst>
              <a:gd name="adj" fmla="val 7692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563624"/>
            <a:ext cx="420624" cy="420624"/>
          </a:xfrm>
          <a:prstGeom prst="ellipse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65049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08176" y="1563624"/>
            <a:ext cx="992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7"/>
                </a:solidFill>
              </a:rPr>
              <a:t>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08176" y="1856232"/>
            <a:ext cx="9921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Cleaned transaction CSV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1.296M+ rows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0760" y="2139696"/>
            <a:ext cx="0" cy="292608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" y="2267712"/>
            <a:ext cx="10744200" cy="713232"/>
          </a:xfrm>
          <a:prstGeom prst="roundRect">
            <a:avLst>
              <a:gd name="adj" fmla="val 7692"/>
            </a:avLst>
          </a:prstGeom>
          <a:solidFill>
            <a:srgbClr val="E8F6F4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2414016"/>
            <a:ext cx="420624" cy="420624"/>
          </a:xfrm>
          <a:prstGeom prst="ellipse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50088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08176" y="2414016"/>
            <a:ext cx="992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7"/>
                </a:solidFill>
              </a:rPr>
              <a:t>SQL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08176" y="2706624"/>
            <a:ext cx="9921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Fundamentals + advanced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Projects 16–28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2990088"/>
            <a:ext cx="0" cy="292608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1520" y="3118104"/>
            <a:ext cx="10744200" cy="713232"/>
          </a:xfrm>
          <a:prstGeom prst="roundRect">
            <a:avLst>
              <a:gd name="adj" fmla="val 7692"/>
            </a:avLst>
          </a:prstGeom>
          <a:solidFill>
            <a:srgbClr val="FFF1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3264408"/>
            <a:ext cx="420624" cy="420624"/>
          </a:xfrm>
          <a:prstGeom prst="ellipse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3351276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08176" y="3264408"/>
            <a:ext cx="992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7"/>
                </a:solidFill>
              </a:rPr>
              <a:t>Python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08176" y="3557016"/>
            <a:ext cx="9921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Load, clean, EDA, KPI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and report generation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80760" y="3840480"/>
            <a:ext cx="0" cy="292608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1520" y="3968496"/>
            <a:ext cx="10744200" cy="713232"/>
          </a:xfrm>
          <a:prstGeom prst="roundRect">
            <a:avLst>
              <a:gd name="adj" fmla="val 7692"/>
            </a:avLst>
          </a:prstGeom>
          <a:solidFill>
            <a:srgbClr val="F0EC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420166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08176" y="4114800"/>
            <a:ext cx="992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7"/>
                </a:solidFill>
              </a:rPr>
              <a:t>NumPy / Pandas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08176" y="4407408"/>
            <a:ext cx="9921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Array operations, statistics,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joins, aggregation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4690872"/>
            <a:ext cx="0" cy="292608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31520" y="4818888"/>
            <a:ext cx="10744200" cy="713232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" y="4965192"/>
            <a:ext cx="420624" cy="420624"/>
          </a:xfrm>
          <a:prstGeom prst="ellipse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505206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08176" y="4965192"/>
            <a:ext cx="992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7"/>
                </a:solidFill>
              </a:rPr>
              <a:t>Visualization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08176" y="5257800"/>
            <a:ext cx="9921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Matplotlib / Seaborn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fraud pattern charts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80760" y="5541264"/>
            <a:ext cx="0" cy="292608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1520" y="5669280"/>
            <a:ext cx="10744200" cy="713232"/>
          </a:xfrm>
          <a:prstGeom prst="roundRect">
            <a:avLst>
              <a:gd name="adj" fmla="val 7692"/>
            </a:avLst>
          </a:prstGeom>
          <a:solidFill>
            <a:srgbClr val="EAF7E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815584"/>
            <a:ext cx="420624" cy="420624"/>
          </a:xfrm>
          <a:prstGeom prst="ellipse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" y="59024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08176" y="5815584"/>
            <a:ext cx="992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7"/>
                </a:solidFill>
              </a:rPr>
              <a:t>Power BI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408176" y="6108192"/>
            <a:ext cx="9921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DAX + 6 analytical pages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executive dashboard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analytics layer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SQL section combines foundational query patterns with advanced SQL Server techniques.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384048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38360" y="4297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747"/>
                </a:solidFill>
              </a:rPr>
              <a:t>04 — SQL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2578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7276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7"/>
                </a:solidFill>
              </a:rPr>
              <a:t>Foundations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267712" y="1545336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Filtering &amp; sorting • aggregates • joins • CTEs • subqueries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478024"/>
            <a:ext cx="52578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63347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7"/>
                </a:solidFill>
              </a:rPr>
              <a:t>Reusable logic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267712" y="2606040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Views • stored procedures • user-defined functions • triggers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538728"/>
            <a:ext cx="52578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69417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7"/>
                </a:solidFill>
              </a:rPr>
              <a:t>Advanced SQL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267712" y="3666744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Window functions • dynamic SQL • temporary tables • transactions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599432"/>
            <a:ext cx="52578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7548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7"/>
                </a:solidFill>
              </a:rPr>
              <a:t>Engineering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267712" y="4727448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Error handling • MERGE • XML/JSON • performance tuning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1417320"/>
            <a:ext cx="5257800" cy="4681728"/>
          </a:xfrm>
          <a:prstGeom prst="roundRect">
            <a:avLst>
              <a:gd name="adj" fmla="val 1563"/>
            </a:avLst>
          </a:prstGeom>
          <a:solidFill>
            <a:srgbClr val="EEF5FF"/>
          </a:solidFill>
          <a:ln w="12700">
            <a:solidFill>
              <a:srgbClr val="C9DC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</a:rPr>
              <a:t>Final SQL project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2148840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</a:rPr>
              <a:t>Project 28 — End-to-End Credit Card Fraud Analysis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92240" y="307238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47688" y="29718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Transaction KPIs and fraud rate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357530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7688" y="34747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Category, state and city analysis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0" y="407822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39776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Merchant, job and customer analysis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458114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47688" y="44805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Hourly and daily fraud trends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92240" y="508406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47688" y="49834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High-value fraud detection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92240" y="558698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47688" y="54864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Window functions and ranking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Python, NumPy, Pandas and visualization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code layer supports reproducible analysis, KPIs, reporting and visual exploration.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384048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38360" y="4297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747"/>
                </a:solidFill>
              </a:rPr>
              <a:t>05 — CODE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5212080" cy="1783080"/>
          </a:xfrm>
          <a:prstGeom prst="roundRect">
            <a:avLst>
              <a:gd name="adj" fmla="val 3590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465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747"/>
                </a:solidFill>
              </a:rPr>
              <a:t>Python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41832" y="222199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</a:rPr>
              <a:t>Load dataset • clean data • EDA • KPI calculation • master report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508760"/>
            <a:ext cx="5212080" cy="1783080"/>
          </a:xfrm>
          <a:prstGeom prst="roundRect">
            <a:avLst>
              <a:gd name="adj" fmla="val 3590"/>
            </a:avLst>
          </a:prstGeom>
          <a:solidFill>
            <a:srgbClr val="E8F6F4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7465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747"/>
                </a:solidFill>
              </a:rPr>
              <a:t>NumPy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73952" y="222199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</a:rPr>
              <a:t>Arrays • financial statistics • transaction/fraud amount analysis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630168"/>
            <a:ext cx="5212080" cy="1783080"/>
          </a:xfrm>
          <a:prstGeom prst="roundRect">
            <a:avLst>
              <a:gd name="adj" fmla="val 3590"/>
            </a:avLst>
          </a:prstGeom>
          <a:solidFill>
            <a:srgbClr val="FFF1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8679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747"/>
                </a:solidFill>
              </a:rPr>
              <a:t>Pandas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41832" y="434340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</a:rPr>
              <a:t>Inspection • cleaning • aggregation • merge/join • fraud analysis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3630168"/>
            <a:ext cx="5212080" cy="1783080"/>
          </a:xfrm>
          <a:prstGeom prst="roundRect">
            <a:avLst>
              <a:gd name="adj" fmla="val 3590"/>
            </a:avLst>
          </a:prstGeom>
          <a:solidFill>
            <a:srgbClr val="F0EC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38679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747"/>
                </a:solidFill>
              </a:rPr>
              <a:t>Visualization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73952" y="434340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</a:rPr>
              <a:t>Fraud distribution • category • state • hour • heatmap • dashboard charts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58338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Reporting output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65960" y="579729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7"/>
                </a:solidFill>
              </a:rPr>
              <a:t>Enterprise_Fraud_Report.xlsx  •  KPI_Summary.xlsx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 reporting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one-table model with business-ready DAX measures.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384048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38360" y="4297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747"/>
                </a:solidFill>
              </a:rPr>
              <a:t>06 — POWER BI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47548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830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747"/>
                </a:solidFill>
              </a:rPr>
              <a:t>Transactions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1671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One-table model • no relationships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2651760"/>
            <a:ext cx="1965960" cy="256032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2700">
            <a:solidFill>
              <a:srgbClr val="CFE0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71119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trans_date_trans_time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60120" y="2935224"/>
            <a:ext cx="1965960" cy="256032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2700">
            <a:solidFill>
              <a:srgbClr val="CFE0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299466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amt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60120" y="3218688"/>
            <a:ext cx="1965960" cy="256032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2700">
            <a:solidFill>
              <a:srgbClr val="CFE0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3278124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is_fraud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60120" y="3502152"/>
            <a:ext cx="1965960" cy="256032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2700">
            <a:solidFill>
              <a:srgbClr val="CFE0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356158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Fraud_Label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60120" y="3785616"/>
            <a:ext cx="1965960" cy="256032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2700">
            <a:solidFill>
              <a:srgbClr val="CFE0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384505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Transaction_Hour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60120" y="4069080"/>
            <a:ext cx="1965960" cy="256032"/>
          </a:xfrm>
          <a:prstGeom prst="roundRect">
            <a:avLst>
              <a:gd name="adj" fmla="val 1428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3272" y="412851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category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60120" y="4352544"/>
            <a:ext cx="1965960" cy="256032"/>
          </a:xfrm>
          <a:prstGeom prst="roundRect">
            <a:avLst>
              <a:gd name="adj" fmla="val 1428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441198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state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0120" y="4636008"/>
            <a:ext cx="1965960" cy="256032"/>
          </a:xfrm>
          <a:prstGeom prst="roundRect">
            <a:avLst>
              <a:gd name="adj" fmla="val 1428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" y="4695444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city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60120" y="4965192"/>
            <a:ext cx="1965960" cy="256032"/>
          </a:xfrm>
          <a:prstGeom prst="roundRect">
            <a:avLst>
              <a:gd name="adj" fmla="val 1428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272" y="50246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merchant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60120" y="5248656"/>
            <a:ext cx="1965960" cy="256032"/>
          </a:xfrm>
          <a:prstGeom prst="roundRect">
            <a:avLst>
              <a:gd name="adj" fmla="val 1428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3272" y="53080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job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60120" y="5532120"/>
            <a:ext cx="1965960" cy="256032"/>
          </a:xfrm>
          <a:prstGeom prst="roundRect">
            <a:avLst>
              <a:gd name="adj" fmla="val 1428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3272" y="559155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gender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715000" y="1417320"/>
            <a:ext cx="5806440" cy="2057400"/>
          </a:xfrm>
          <a:prstGeom prst="roundRect">
            <a:avLst>
              <a:gd name="adj" fmla="val 3556"/>
            </a:avLst>
          </a:prstGeom>
          <a:solidFill>
            <a:srgbClr val="EEF5FF"/>
          </a:solidFill>
          <a:ln w="12700">
            <a:solidFill>
              <a:srgbClr val="C9DC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1719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</a:rPr>
              <a:t>Core DAX measures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016752" y="21488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</a:rPr>
              <a:t>• Total Transactions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6016752" y="24323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</a:rPr>
              <a:t>• Fraud Transactions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6016752" y="27157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</a:rPr>
              <a:t>• Genuine Transactions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6016752" y="29992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</a:rPr>
              <a:t>• Fraud Rate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8668512" y="21488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</a:rPr>
              <a:t>• Total Transaction Amount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8668512" y="24323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</a:rPr>
              <a:t>• Total Fraud Amount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8668512" y="27157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</a:rPr>
              <a:t>• Average Transaction Amount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8668512" y="29992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</a:rPr>
              <a:t>• Average Fraud Amount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5715000" y="3730752"/>
            <a:ext cx="580644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89320" y="4005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</a:rPr>
              <a:t>Six report pages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16752" y="4480560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563EB"/>
                </a:solidFill>
              </a:rPr>
              <a:t>1. KPI Dashboard</a:t>
            </a:r>
            <a:endParaRPr lang="en-US" sz="1120" dirty="0"/>
          </a:p>
        </p:txBody>
      </p:sp>
      <p:sp>
        <p:nvSpPr>
          <p:cNvPr id="44" name="Text 42"/>
          <p:cNvSpPr/>
          <p:nvPr/>
        </p:nvSpPr>
        <p:spPr>
          <a:xfrm>
            <a:off x="6016752" y="4873752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72033"/>
                </a:solidFill>
              </a:rPr>
              <a:t>2. Fraud Analysis Dashboard</a:t>
            </a:r>
            <a:endParaRPr lang="en-US" sz="1120" dirty="0"/>
          </a:p>
        </p:txBody>
      </p:sp>
      <p:sp>
        <p:nvSpPr>
          <p:cNvPr id="45" name="Text 43"/>
          <p:cNvSpPr/>
          <p:nvPr/>
        </p:nvSpPr>
        <p:spPr>
          <a:xfrm>
            <a:off x="6016752" y="5266944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72033"/>
                </a:solidFill>
              </a:rPr>
              <a:t>3. Fraud by Category</a:t>
            </a:r>
            <a:endParaRPr lang="en-US" sz="1120" dirty="0"/>
          </a:p>
        </p:txBody>
      </p:sp>
      <p:sp>
        <p:nvSpPr>
          <p:cNvPr id="46" name="Text 44"/>
          <p:cNvSpPr/>
          <p:nvPr/>
        </p:nvSpPr>
        <p:spPr>
          <a:xfrm>
            <a:off x="8714232" y="4480560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72033"/>
                </a:solidFill>
              </a:rPr>
              <a:t>4. Geographic Analysis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8714232" y="4873752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72033"/>
                </a:solidFill>
              </a:rPr>
              <a:t>5. Time Analysis</a:t>
            </a:r>
            <a:endParaRPr lang="en-US" sz="1120" dirty="0"/>
          </a:p>
        </p:txBody>
      </p:sp>
      <p:sp>
        <p:nvSpPr>
          <p:cNvPr id="48" name="Text 46"/>
          <p:cNvSpPr/>
          <p:nvPr/>
        </p:nvSpPr>
        <p:spPr>
          <a:xfrm>
            <a:off x="8714232" y="5266944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72033"/>
                </a:solidFill>
              </a:rPr>
              <a:t>6. Merchant / Customer Analysis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 dashboard 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page answers a different operational or analytical question.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384048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38360" y="4297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747"/>
                </a:solidFill>
              </a:rPr>
              <a:t>07 — DASHBOARDS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99616" y="16184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2747"/>
                </a:solidFill>
              </a:rPr>
              <a:t>KPI Dashboard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86968" y="2167128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What is the scale and financial impact of fraud?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98848" y="141732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DECE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48" y="16276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40096" y="16184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2747"/>
                </a:solidFill>
              </a:rPr>
              <a:t>Fraud Analysis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727448" y="2167128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How do fraud and genuine transactions compare?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39328" y="141732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FF1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67928" y="16276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80576" y="16184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2747"/>
                </a:solidFill>
              </a:rPr>
              <a:t>Fraud by Category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567928" y="2167128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Which transaction categories need deeper review?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3593592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E8F6F4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80390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99616" y="37947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2747"/>
                </a:solidFill>
              </a:rPr>
              <a:t>Geographic Analysis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86968" y="4343400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Where is fraud concentrated across states and cities?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98848" y="3593592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0EC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27448" y="380390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40096" y="37947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2747"/>
                </a:solidFill>
              </a:rPr>
              <a:t>Time Analysis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4727448" y="4343400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How does fraud vary by hour and over time?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339328" y="3593592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EAF7E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67928" y="380390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</a:rPr>
              <a:t>06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80576" y="37947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2747"/>
                </a:solidFill>
              </a:rPr>
              <a:t>Merchant / Customer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8567928" y="4343400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Which merchants, jobs and demographic groups are visible in fraud patterns?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Analytical questions the solution enables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is designed for investigation and monitoring—not just static reporting.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384048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38360" y="4297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747"/>
                </a:solidFill>
              </a:rPr>
              <a:t>08 — USE CASES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525780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166420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783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15910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7"/>
                </a:solidFill>
              </a:rPr>
              <a:t>Volume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72768" y="1920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How many transactions occur, and how many are fraudulent?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73368" y="1417320"/>
            <a:ext cx="525780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74536" y="1664208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74536" y="1783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87768" y="15910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7"/>
                </a:solidFill>
              </a:rPr>
              <a:t>Impact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87768" y="1920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What is the financial value of fraudulent transactions?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2926080"/>
            <a:ext cx="525780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317296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32918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72768" y="3099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7"/>
                </a:solidFill>
              </a:rPr>
              <a:t>Mix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72768" y="3429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How does fraud differ across categories and transaction types?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73368" y="2926080"/>
            <a:ext cx="525780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74536" y="3172968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74536" y="32918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87768" y="3099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7"/>
                </a:solidFill>
              </a:rPr>
              <a:t>Geography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87768" y="3429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Where should analysts focus geographically?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" y="4434840"/>
            <a:ext cx="525780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468172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48006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72768" y="46085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7"/>
                </a:solidFill>
              </a:rPr>
              <a:t>Time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72768" y="4937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When does fraud activity vary across hours and dates?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73368" y="4434840"/>
            <a:ext cx="525780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74536" y="4681728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74536" y="48006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87768" y="46085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7"/>
                </a:solidFill>
              </a:rPr>
              <a:t>Entities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287768" y="4937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Which merchants, jobs and customer segments require investigation?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outcome and portfolio structure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analytics portfolio spanning data preparation, analysis, visualization and reporting.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384048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38360" y="4297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747"/>
                </a:solidFill>
              </a:rPr>
              <a:t>09 — OUTCOME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51663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737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</a:rPr>
              <a:t>Completed project layers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2128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72033"/>
                </a:solidFill>
              </a:rPr>
              <a:t>01 Documentation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3730752" y="22128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15803D"/>
                </a:solidFill>
              </a:rPr>
              <a:t>Complete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960120" y="25603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72033"/>
                </a:solidFill>
              </a:rPr>
              <a:t>02 Data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3730752" y="25603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15803D"/>
                </a:solidFill>
              </a:rPr>
              <a:t>Complete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960120" y="290779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72033"/>
                </a:solidFill>
              </a:rPr>
              <a:t>03 SQL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3730752" y="29077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15803D"/>
                </a:solidFill>
              </a:rPr>
              <a:t>Complete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960120" y="325526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72033"/>
                </a:solidFill>
              </a:rPr>
              <a:t>04 Python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3730752" y="32552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15803D"/>
                </a:solidFill>
              </a:rPr>
              <a:t>Complete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960120" y="360273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72033"/>
                </a:solidFill>
              </a:rPr>
              <a:t>05 NumPy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3730752" y="360273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15803D"/>
                </a:solidFill>
              </a:rPr>
              <a:t>Complete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960120" y="39502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72033"/>
                </a:solidFill>
              </a:rPr>
              <a:t>06 Pandas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3730752" y="39502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15803D"/>
                </a:solidFill>
              </a:rPr>
              <a:t>Complete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960120" y="42976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72033"/>
                </a:solidFill>
              </a:rPr>
              <a:t>07 Visualization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3730752" y="42976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15803D"/>
                </a:solidFill>
              </a:rPr>
              <a:t>Complete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960120" y="46451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72033"/>
                </a:solidFill>
              </a:rPr>
              <a:t>08 Power BI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3730752" y="46451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15803D"/>
                </a:solidFill>
              </a:rPr>
              <a:t>Complete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960120" y="499262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72033"/>
                </a:solidFill>
              </a:rPr>
              <a:t>09 Reports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3730752" y="499262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15803D"/>
                </a:solidFill>
              </a:rPr>
              <a:t>Complete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960120" y="53400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72033"/>
                </a:solidFill>
              </a:rPr>
              <a:t>10 Presentation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3730752" y="53400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EA580C"/>
                </a:solidFill>
              </a:rPr>
              <a:t>Current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6144768" y="141732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EEF5FF"/>
          </a:solidFill>
          <a:ln w="12700">
            <a:solidFill>
              <a:srgbClr val="C9DC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19088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</a:rPr>
              <a:t>Key deliverables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446520" y="234086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22402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Validated KPI outputs and Excel reports.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46520" y="284378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1968" y="27432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SQL analysis layer with foundational and advanced projects.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46520" y="334670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01968" y="32461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Python / NumPy / Pandas scripts and reporting workflow.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46520" y="384962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01968" y="37490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Visualization outputs for fraud patterns.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46520" y="435254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01968" y="42519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Six-page Power BI dashboard and DAX measures.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46520" y="485546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01968" y="47548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Power BI PBIX published as GitHub Release v1.0.0.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7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6012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BANKING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FRAUD ANALYTICS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" y="2331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7E6F8"/>
                </a:solidFill>
              </a:rPr>
              <a:t>End-to-end analytics portfolio — complete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04672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0E5"/>
                </a:solidFill>
              </a:rPr>
              <a:t>Key validated metrics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04672" y="3493008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35387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747"/>
                </a:solidFill>
              </a:rPr>
              <a:t>1,296,675 transactions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3493008"/>
            <a:ext cx="1572768" cy="310896"/>
          </a:xfrm>
          <a:prstGeom prst="roundRect">
            <a:avLst>
              <a:gd name="adj" fmla="val 1764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353872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747"/>
                </a:solidFill>
              </a:rPr>
              <a:t>7,506 fraud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53712" y="3493008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FFF0E3"/>
          </a:solidFill>
          <a:ln w="12700">
            <a:solidFill>
              <a:srgbClr val="FFF0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35387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747"/>
                </a:solidFill>
              </a:rPr>
              <a:t>0.58% rate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3493008"/>
            <a:ext cx="1481328" cy="310896"/>
          </a:xfrm>
          <a:prstGeom prst="roundRect">
            <a:avLst>
              <a:gd name="adj" fmla="val 17647"/>
            </a:avLst>
          </a:prstGeom>
          <a:solidFill>
            <a:srgbClr val="E2F7F4"/>
          </a:solidFill>
          <a:ln w="12700">
            <a:solidFill>
              <a:srgbClr val="E2F7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353872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747"/>
                </a:solidFill>
              </a:rPr>
              <a:t>$3.99M fraud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42519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5E4"/>
                </a:solidFill>
              </a:rPr>
              <a:t>Portfolio-ready project with SQL, Python, NumPy, Pandas, Visualization, Power BI and reporting layers.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Thank you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Enterprise Banking Fraud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Banking Fraud Analytics</dc:title>
  <dc:subject>Enterprise Banking Fraud Analytics</dc:subject>
  <dc:creator>OpenAI</dc:creator>
  <cp:lastModifiedBy>OpenAI</cp:lastModifiedBy>
  <cp:revision>1</cp:revision>
  <dcterms:created xsi:type="dcterms:W3CDTF">2026-09-22T17:26:32Z</dcterms:created>
  <dcterms:modified xsi:type="dcterms:W3CDTF">2026-09-22T17:26:32Z</dcterms:modified>
</cp:coreProperties>
</file>